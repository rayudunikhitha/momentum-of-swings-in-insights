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TT Hoves Bold" charset="1" panose="02000003020000060003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  <p:embeddedFont>
      <p:font typeface="League Spartan" charset="1" panose="00000800000000000000"/>
      <p:regular r:id="rId22"/>
    </p:embeddedFont>
    <p:embeddedFont>
      <p:font typeface="Garet Bold" charset="1" panose="00000000000000000000"/>
      <p:regular r:id="rId23"/>
    </p:embeddedFont>
    <p:embeddedFont>
      <p:font typeface="Inter" charset="1" panose="020B05020300000000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13966">
            <a:off x="15573954" y="3580533"/>
            <a:ext cx="476836" cy="476836"/>
          </a:xfrm>
          <a:custGeom>
            <a:avLst/>
            <a:gdLst/>
            <a:ahLst/>
            <a:cxnLst/>
            <a:rect r="r" b="b" t="t" l="l"/>
            <a:pathLst>
              <a:path h="476836" w="476836">
                <a:moveTo>
                  <a:pt x="0" y="0"/>
                </a:moveTo>
                <a:lnTo>
                  <a:pt x="476835" y="0"/>
                </a:lnTo>
                <a:lnTo>
                  <a:pt x="476835" y="476835"/>
                </a:lnTo>
                <a:lnTo>
                  <a:pt x="0" y="476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58521" y="3272230"/>
            <a:ext cx="7047615" cy="9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0"/>
              </a:lnSpc>
            </a:pPr>
            <a:r>
              <a:rPr lang="en-US" b="true" sz="5828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MOMENTUM OF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95243" y="3342903"/>
            <a:ext cx="8394109" cy="91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b="true" sz="5299">
                <a:solidFill>
                  <a:srgbClr val="FFBD59"/>
                </a:solidFill>
                <a:latin typeface="TT Hoves Bold"/>
                <a:ea typeface="TT Hoves Bold"/>
                <a:cs typeface="TT Hoves Bold"/>
                <a:sym typeface="TT Hoves Bold"/>
              </a:rPr>
              <a:t>SWINGS IN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21470" y="6359423"/>
            <a:ext cx="9245060" cy="236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Swing Trading: A Strategic Approach to Capitalize on Market Movements</a:t>
            </a:r>
          </a:p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Why Swing Trading Outperforms Other Methods</a:t>
            </a:r>
          </a:p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Presented by: MEETH KAWAD </a:t>
            </a:r>
          </a:p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RAYUDU NIKHITHA</a:t>
            </a:r>
          </a:p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HANEEF</a:t>
            </a:r>
          </a:p>
          <a:p>
            <a:pPr algn="ctr">
              <a:lnSpc>
                <a:spcPts val="2694"/>
              </a:lnSpc>
            </a:pPr>
            <a:r>
              <a:rPr lang="en-US" sz="19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HARI KIRAN</a:t>
            </a:r>
          </a:p>
          <a:p>
            <a:pPr algn="ctr">
              <a:lnSpc>
                <a:spcPts val="2694"/>
              </a:lnSpc>
            </a:pPr>
          </a:p>
        </p:txBody>
      </p:sp>
      <p:sp>
        <p:nvSpPr>
          <p:cNvPr name="AutoShape 7" id="7"/>
          <p:cNvSpPr/>
          <p:nvPr/>
        </p:nvSpPr>
        <p:spPr>
          <a:xfrm flipV="true">
            <a:off x="2238792" y="9118460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77555" y="565308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437440" y="9863017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446985" y="283840"/>
            <a:ext cx="6841015" cy="8524881"/>
          </a:xfrm>
          <a:custGeom>
            <a:avLst/>
            <a:gdLst/>
            <a:ahLst/>
            <a:cxnLst/>
            <a:rect r="r" b="b" t="t" l="l"/>
            <a:pathLst>
              <a:path h="8524881" w="6841015">
                <a:moveTo>
                  <a:pt x="0" y="0"/>
                </a:moveTo>
                <a:lnTo>
                  <a:pt x="6841015" y="0"/>
                </a:lnTo>
                <a:lnTo>
                  <a:pt x="6841015" y="8524881"/>
                </a:lnTo>
                <a:lnTo>
                  <a:pt x="0" y="852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572" t="0" r="-3319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7555" y="665320"/>
            <a:ext cx="7357633" cy="138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9"/>
              </a:lnSpc>
            </a:pPr>
            <a:r>
              <a:rPr lang="en-US" sz="411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INTRODUCTION TO SWING TRADING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555" y="129218"/>
            <a:ext cx="254279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SWING TRADING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2320483"/>
            <a:ext cx="11049481" cy="7542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2771" indent="-276385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What is Swing Trading?</a:t>
            </a:r>
          </a:p>
          <a:p>
            <a:pPr algn="l" marL="1105541" indent="-368514" lvl="2">
              <a:lnSpc>
                <a:spcPts val="3584"/>
              </a:lnSpc>
              <a:buFont typeface="Arial"/>
              <a:buChar char="⚬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Definition: Swing trading is a strategy where positions are held from one day to several months to capture short- to medium-term price movements known as "swings."</a:t>
            </a:r>
          </a:p>
          <a:p>
            <a:pPr algn="l" marL="1105541" indent="-368514" lvl="2">
              <a:lnSpc>
                <a:spcPts val="3584"/>
              </a:lnSpc>
              <a:buFont typeface="Arial"/>
              <a:buChar char="⚬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 aim is to identify and profit from significant price fluctuations, such as a stock moving from ₹140 to ₹210.</a:t>
            </a:r>
          </a:p>
          <a:p>
            <a:pPr algn="l" marL="1105541" indent="-368514" lvl="2">
              <a:lnSpc>
                <a:spcPts val="3584"/>
              </a:lnSpc>
              <a:buFont typeface="Arial"/>
              <a:buChar char="⚬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 A trader buys a stock at ₹160 and aims to sell at ₹200 to capture the ₹40 price movement, avoiding the f</a:t>
            </a: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ull volatility of day trading and the long commitment of investing.</a:t>
            </a:r>
          </a:p>
          <a:p>
            <a:pPr algn="l" marL="552771" indent="-276385" lvl="1">
              <a:lnSpc>
                <a:spcPts val="3584"/>
              </a:lnSpc>
              <a:buFont typeface="Arial"/>
              <a:buChar char="•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 Swing Trading?</a:t>
            </a:r>
          </a:p>
          <a:p>
            <a:pPr algn="l" marL="1105541" indent="-368514" lvl="2">
              <a:lnSpc>
                <a:spcPts val="3584"/>
              </a:lnSpc>
              <a:buFont typeface="Arial"/>
              <a:buChar char="⚬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Potential for Higher Returns: By focusing on price fluctuations, traders can generate significant returns over a relatively short period.</a:t>
            </a:r>
          </a:p>
          <a:p>
            <a:pPr algn="l" marL="1105541" indent="-368514" lvl="2">
              <a:lnSpc>
                <a:spcPts val="3584"/>
              </a:lnSpc>
              <a:buFont typeface="Arial"/>
              <a:buChar char="⚬"/>
            </a:pPr>
            <a:r>
              <a:rPr lang="en-US" sz="256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Time Flexibility: Unlike day trading, swing trading allows more flexibility in monitoring positions, suitable for those with other commitments.</a:t>
            </a:r>
          </a:p>
          <a:p>
            <a:pPr algn="l">
              <a:lnSpc>
                <a:spcPts val="358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028700"/>
            <a:ext cx="18288000" cy="4483302"/>
            <a:chOff x="0" y="0"/>
            <a:chExt cx="2833290" cy="6945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290" cy="694581"/>
            </a:xfrm>
            <a:custGeom>
              <a:avLst/>
              <a:gdLst/>
              <a:ahLst/>
              <a:cxnLst/>
              <a:rect r="r" b="b" t="t" l="l"/>
              <a:pathLst>
                <a:path h="694581" w="2833290">
                  <a:moveTo>
                    <a:pt x="0" y="0"/>
                  </a:moveTo>
                  <a:lnTo>
                    <a:pt x="2833290" y="0"/>
                  </a:lnTo>
                  <a:lnTo>
                    <a:pt x="2833290" y="694581"/>
                  </a:lnTo>
                  <a:lnTo>
                    <a:pt x="0" y="694581"/>
                  </a:lnTo>
                  <a:close/>
                </a:path>
              </a:pathLst>
            </a:custGeom>
            <a:blipFill>
              <a:blip r:embed="rId2"/>
              <a:stretch>
                <a:fillRect l="0" t="-160868" r="0" b="-1141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8670" y="4358959"/>
            <a:ext cx="4137398" cy="5654169"/>
            <a:chOff x="0" y="0"/>
            <a:chExt cx="1089685" cy="14891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9685" cy="1489164"/>
            </a:xfrm>
            <a:custGeom>
              <a:avLst/>
              <a:gdLst/>
              <a:ahLst/>
              <a:cxnLst/>
              <a:rect r="r" b="b" t="t" l="l"/>
              <a:pathLst>
                <a:path h="1489164" w="1089685">
                  <a:moveTo>
                    <a:pt x="37424" y="0"/>
                  </a:moveTo>
                  <a:lnTo>
                    <a:pt x="1052261" y="0"/>
                  </a:lnTo>
                  <a:cubicBezTo>
                    <a:pt x="1062186" y="0"/>
                    <a:pt x="1071705" y="3943"/>
                    <a:pt x="1078724" y="10961"/>
                  </a:cubicBezTo>
                  <a:cubicBezTo>
                    <a:pt x="1085742" y="17980"/>
                    <a:pt x="1089685" y="27499"/>
                    <a:pt x="1089685" y="37424"/>
                  </a:cubicBezTo>
                  <a:lnTo>
                    <a:pt x="1089685" y="1451740"/>
                  </a:lnTo>
                  <a:cubicBezTo>
                    <a:pt x="1089685" y="1472409"/>
                    <a:pt x="1072930" y="1489164"/>
                    <a:pt x="1052261" y="1489164"/>
                  </a:cubicBezTo>
                  <a:lnTo>
                    <a:pt x="37424" y="1489164"/>
                  </a:lnTo>
                  <a:cubicBezTo>
                    <a:pt x="27499" y="1489164"/>
                    <a:pt x="17980" y="1485221"/>
                    <a:pt x="10961" y="1478203"/>
                  </a:cubicBezTo>
                  <a:cubicBezTo>
                    <a:pt x="3943" y="1471184"/>
                    <a:pt x="0" y="1461665"/>
                    <a:pt x="0" y="1451740"/>
                  </a:cubicBezTo>
                  <a:lnTo>
                    <a:pt x="0" y="37424"/>
                  </a:lnTo>
                  <a:cubicBezTo>
                    <a:pt x="0" y="16755"/>
                    <a:pt x="16755" y="0"/>
                    <a:pt x="37424" y="0"/>
                  </a:cubicBez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89685" cy="152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667005" y="4358959"/>
            <a:ext cx="3939015" cy="5654169"/>
            <a:chOff x="0" y="0"/>
            <a:chExt cx="1037436" cy="14891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7436" cy="1489164"/>
            </a:xfrm>
            <a:custGeom>
              <a:avLst/>
              <a:gdLst/>
              <a:ahLst/>
              <a:cxnLst/>
              <a:rect r="r" b="b" t="t" l="l"/>
              <a:pathLst>
                <a:path h="1489164" w="1037436">
                  <a:moveTo>
                    <a:pt x="39309" y="0"/>
                  </a:moveTo>
                  <a:lnTo>
                    <a:pt x="998127" y="0"/>
                  </a:lnTo>
                  <a:cubicBezTo>
                    <a:pt x="1019837" y="0"/>
                    <a:pt x="1037436" y="17599"/>
                    <a:pt x="1037436" y="39309"/>
                  </a:cubicBezTo>
                  <a:lnTo>
                    <a:pt x="1037436" y="1449855"/>
                  </a:lnTo>
                  <a:cubicBezTo>
                    <a:pt x="1037436" y="1471565"/>
                    <a:pt x="1019837" y="1489164"/>
                    <a:pt x="998127" y="1489164"/>
                  </a:cubicBezTo>
                  <a:lnTo>
                    <a:pt x="39309" y="1489164"/>
                  </a:lnTo>
                  <a:cubicBezTo>
                    <a:pt x="17599" y="1489164"/>
                    <a:pt x="0" y="1471565"/>
                    <a:pt x="0" y="1449855"/>
                  </a:cubicBezTo>
                  <a:lnTo>
                    <a:pt x="0" y="39309"/>
                  </a:lnTo>
                  <a:cubicBezTo>
                    <a:pt x="0" y="17599"/>
                    <a:pt x="17599" y="0"/>
                    <a:pt x="39309" y="0"/>
                  </a:cubicBez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37436" cy="152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22951" y="4358959"/>
            <a:ext cx="3861512" cy="5654169"/>
            <a:chOff x="0" y="0"/>
            <a:chExt cx="1017024" cy="14891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024" cy="1489164"/>
            </a:xfrm>
            <a:custGeom>
              <a:avLst/>
              <a:gdLst/>
              <a:ahLst/>
              <a:cxnLst/>
              <a:rect r="r" b="b" t="t" l="l"/>
              <a:pathLst>
                <a:path h="1489164" w="1017024">
                  <a:moveTo>
                    <a:pt x="40098" y="0"/>
                  </a:moveTo>
                  <a:lnTo>
                    <a:pt x="976926" y="0"/>
                  </a:lnTo>
                  <a:cubicBezTo>
                    <a:pt x="999071" y="0"/>
                    <a:pt x="1017024" y="17952"/>
                    <a:pt x="1017024" y="40098"/>
                  </a:cubicBezTo>
                  <a:lnTo>
                    <a:pt x="1017024" y="1449066"/>
                  </a:lnTo>
                  <a:cubicBezTo>
                    <a:pt x="1017024" y="1471212"/>
                    <a:pt x="999071" y="1489164"/>
                    <a:pt x="976926" y="1489164"/>
                  </a:cubicBezTo>
                  <a:lnTo>
                    <a:pt x="40098" y="1489164"/>
                  </a:lnTo>
                  <a:cubicBezTo>
                    <a:pt x="29463" y="1489164"/>
                    <a:pt x="19264" y="1484939"/>
                    <a:pt x="11744" y="1477420"/>
                  </a:cubicBezTo>
                  <a:cubicBezTo>
                    <a:pt x="4225" y="1469900"/>
                    <a:pt x="0" y="1459701"/>
                    <a:pt x="0" y="1449066"/>
                  </a:cubicBezTo>
                  <a:lnTo>
                    <a:pt x="0" y="40098"/>
                  </a:lnTo>
                  <a:cubicBezTo>
                    <a:pt x="0" y="17952"/>
                    <a:pt x="17952" y="0"/>
                    <a:pt x="40098" y="0"/>
                  </a:cubicBez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17024" cy="152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19664" y="766128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266094" y="4898315"/>
            <a:ext cx="4179997" cy="574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0511" indent="-275255" lvl="1">
              <a:lnSpc>
                <a:spcPts val="3569"/>
              </a:lnSpc>
              <a:buFont typeface="Arial"/>
              <a:buChar char="•"/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Requires constant monitoring of the market.</a:t>
            </a:r>
          </a:p>
          <a:p>
            <a:pPr algn="l" marL="550511" indent="-275255" lvl="1">
              <a:lnSpc>
                <a:spcPts val="3569"/>
              </a:lnSpc>
              <a:buFont typeface="Arial"/>
              <a:buChar char="•"/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Trades are executed quickly, which can lead to higher stress levels and emotional decisions.</a:t>
            </a:r>
          </a:p>
          <a:p>
            <a:pPr algn="l" marL="550511" indent="-275255" lvl="1">
              <a:lnSpc>
                <a:spcPts val="3569"/>
              </a:lnSpc>
              <a:buFont typeface="Arial"/>
              <a:buChar char="•"/>
            </a:pPr>
            <a:r>
              <a:rPr lang="en-US" sz="254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Not ideal for those who cannot monitor the market full-time.</a:t>
            </a:r>
          </a:p>
          <a:p>
            <a:pPr algn="l">
              <a:lnSpc>
                <a:spcPts val="3569"/>
              </a:lnSpc>
            </a:pPr>
          </a:p>
          <a:p>
            <a:pPr algn="l">
              <a:lnSpc>
                <a:spcPts val="356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546423" y="4898315"/>
            <a:ext cx="3988660" cy="4946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090" indent="-280545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Focuses on buying and holding stocks for years, making it less profitable in the short term.</a:t>
            </a:r>
          </a:p>
          <a:p>
            <a:pPr algn="l" marL="561090" indent="-280545" lvl="1">
              <a:lnSpc>
                <a:spcPts val="3638"/>
              </a:lnSpc>
              <a:buFont typeface="Arial"/>
              <a:buChar char="•"/>
            </a:pPr>
            <a:r>
              <a:rPr lang="en-US" sz="25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Slower growth compared to swing trading, which captures medium-term price swings.</a:t>
            </a:r>
          </a:p>
          <a:p>
            <a:pPr algn="l">
              <a:lnSpc>
                <a:spcPts val="3638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672694" y="5095875"/>
            <a:ext cx="3723656" cy="497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6358" indent="-258179" lvl="1">
              <a:lnSpc>
                <a:spcPts val="3348"/>
              </a:lnSpc>
              <a:buFont typeface="Arial"/>
              <a:buChar char="•"/>
            </a:pPr>
            <a:r>
              <a:rPr lang="en-US" sz="2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Lower control over individual stock choices, as the investment is pooled with others.</a:t>
            </a:r>
          </a:p>
          <a:p>
            <a:pPr algn="l" marL="516358" indent="-258179" lvl="1">
              <a:lnSpc>
                <a:spcPts val="3348"/>
              </a:lnSpc>
              <a:buFont typeface="Arial"/>
              <a:buChar char="•"/>
            </a:pPr>
            <a:r>
              <a:rPr lang="en-US" sz="239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Generally offers steady, less volatile returns compared to actively managing a portfolio of swing trades.</a:t>
            </a:r>
          </a:p>
          <a:p>
            <a:pPr algn="l">
              <a:lnSpc>
                <a:spcPts val="334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19664" y="4379062"/>
            <a:ext cx="254279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47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DAY TRADING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08878" y="4435677"/>
            <a:ext cx="379714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099" spc="140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LONG-TERM INVESTING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28419" y="4435677"/>
            <a:ext cx="379714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099" spc="140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MUTUAL FUNDS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73107" y="19050"/>
            <a:ext cx="12110623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WHY</a:t>
            </a:r>
            <a:r>
              <a:rPr lang="en-US" b="true" sz="6000">
                <a:solidFill>
                  <a:srgbClr val="CE9743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  <a:r>
              <a:rPr lang="en-US" b="true" sz="60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CHOOSE</a:t>
            </a:r>
            <a:r>
              <a:rPr lang="en-US" b="true" sz="6000">
                <a:solidFill>
                  <a:srgbClr val="CE9743"/>
                </a:solidFill>
                <a:latin typeface="TT Hoves Bold"/>
                <a:ea typeface="TT Hoves Bold"/>
                <a:cs typeface="TT Hoves Bold"/>
                <a:sym typeface="TT Hoves Bold"/>
              </a:rPr>
              <a:t> SWING TRADING?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9664" y="499746"/>
            <a:ext cx="254279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CRYPTO COIN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651138" y="4358959"/>
            <a:ext cx="5233145" cy="5654169"/>
            <a:chOff x="0" y="0"/>
            <a:chExt cx="1378277" cy="14891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8277" cy="1489164"/>
            </a:xfrm>
            <a:custGeom>
              <a:avLst/>
              <a:gdLst/>
              <a:ahLst/>
              <a:cxnLst/>
              <a:rect r="r" b="b" t="t" l="l"/>
              <a:pathLst>
                <a:path h="1489164" w="1378277">
                  <a:moveTo>
                    <a:pt x="29588" y="0"/>
                  </a:moveTo>
                  <a:lnTo>
                    <a:pt x="1348689" y="0"/>
                  </a:lnTo>
                  <a:cubicBezTo>
                    <a:pt x="1356536" y="0"/>
                    <a:pt x="1364062" y="3117"/>
                    <a:pt x="1369611" y="8666"/>
                  </a:cubicBezTo>
                  <a:cubicBezTo>
                    <a:pt x="1375160" y="14215"/>
                    <a:pt x="1378277" y="21741"/>
                    <a:pt x="1378277" y="29588"/>
                  </a:cubicBezTo>
                  <a:lnTo>
                    <a:pt x="1378277" y="1459576"/>
                  </a:lnTo>
                  <a:cubicBezTo>
                    <a:pt x="1378277" y="1475917"/>
                    <a:pt x="1365030" y="1489164"/>
                    <a:pt x="1348689" y="1489164"/>
                  </a:cubicBezTo>
                  <a:lnTo>
                    <a:pt x="29588" y="1489164"/>
                  </a:lnTo>
                  <a:cubicBezTo>
                    <a:pt x="21741" y="1489164"/>
                    <a:pt x="14215" y="1486047"/>
                    <a:pt x="8666" y="1480498"/>
                  </a:cubicBezTo>
                  <a:cubicBezTo>
                    <a:pt x="3117" y="1474949"/>
                    <a:pt x="0" y="1467423"/>
                    <a:pt x="0" y="1459576"/>
                  </a:cubicBezTo>
                  <a:lnTo>
                    <a:pt x="0" y="29588"/>
                  </a:lnTo>
                  <a:cubicBezTo>
                    <a:pt x="0" y="21741"/>
                    <a:pt x="3117" y="14215"/>
                    <a:pt x="8666" y="8666"/>
                  </a:cubicBezTo>
                  <a:cubicBezTo>
                    <a:pt x="14215" y="3117"/>
                    <a:pt x="21741" y="0"/>
                    <a:pt x="29588" y="0"/>
                  </a:cubicBez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78277" cy="1527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002889" y="4435677"/>
            <a:ext cx="488139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b="true" sz="2099" spc="140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 OF SWING TRADING: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7960" y="5335416"/>
            <a:ext cx="4627503" cy="4823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926" indent="-226963" lvl="1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Balance of Risk and Reward:</a:t>
            </a:r>
          </a:p>
          <a:p>
            <a:pPr algn="l" marL="453926" indent="-226963" lvl="1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Risk per trade is limited to 2%-3% of the total portfolio, while aiming for a 1:3 risk-reward ratio.</a:t>
            </a:r>
          </a:p>
          <a:p>
            <a:pPr algn="l" marL="453926" indent="-226963" lvl="1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This means that for every ₹1 of risk, the potential profit is ₹3.</a:t>
            </a:r>
          </a:p>
          <a:p>
            <a:pPr algn="l" marL="453926" indent="-226963" lvl="1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More Predictable than day trading: Swing traders rely on technical analysis and fundamental data to inform their strategy, reducing emotional decision-making.</a:t>
            </a:r>
          </a:p>
          <a:p>
            <a:pPr algn="l">
              <a:lnSpc>
                <a:spcPts val="2943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641830" y="10136649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395692" y="129998"/>
            <a:ext cx="16044587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60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KEY INDICATORS IN SWING TRADING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3605" y="1279423"/>
            <a:ext cx="4778198" cy="4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INDICATORS: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2187" y="1279423"/>
            <a:ext cx="601418" cy="418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69" b="true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85400" y="1279423"/>
            <a:ext cx="717199" cy="48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 b="true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7986" y="1330116"/>
            <a:ext cx="4615316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FUNDAMENTAL INDICATORS: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260" y="2020867"/>
            <a:ext cx="8287141" cy="8130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158" indent="-261079" lvl="1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Exponential Moving Average (EMA):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Tracks the average price of a st</a:t>
            </a: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ock over a certain period but gives more weight to recent prices, making it more sensitive to recent price changes.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20-period and 5-period EMAs are commonly used to identify trends and entry/exit points.</a:t>
            </a:r>
          </a:p>
          <a:p>
            <a:pPr algn="l" marL="522158" indent="-261079" lvl="1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Simple Moving Average (SMA):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Similar to EMA but gives equal weight to all periods. It’s used to confirm the trend direction.</a:t>
            </a:r>
          </a:p>
          <a:p>
            <a:pPr algn="l" marL="522158" indent="-261079" lvl="1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Stochastic Momentum Index (SMI):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Measures momentum by comparing closing prices to a stock’s price range over a given period.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SMI Parameters: Typically set to 7, 3, 3, 7, used to identify overbought or oversold conditions.</a:t>
            </a:r>
          </a:p>
          <a:p>
            <a:pPr algn="l" marL="522158" indent="-261079" lvl="1">
              <a:lnSpc>
                <a:spcPts val="3385"/>
              </a:lnSpc>
              <a:buFont typeface="Arial"/>
              <a:buChar char="•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Heikin-Ashi Candlestick Patterns:</a:t>
            </a:r>
          </a:p>
          <a:p>
            <a:pPr algn="l" marL="1044316" indent="-348105" lvl="2">
              <a:lnSpc>
                <a:spcPts val="3385"/>
              </a:lnSpc>
              <a:buFont typeface="Arial"/>
              <a:buChar char="⚬"/>
            </a:pPr>
            <a:r>
              <a:rPr lang="en-US" sz="241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Modified candlesticks used to make trend patterns clearer by smoothing price action, especially on daily charts.</a:t>
            </a:r>
          </a:p>
          <a:p>
            <a:pPr algn="l">
              <a:lnSpc>
                <a:spcPts val="33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727174" y="2020867"/>
            <a:ext cx="8986212" cy="8211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Market Capitalization (Market Cap):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Measures a company's size and helps identify stable stocks for long-term investment.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P/E Ratio: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assess whether a stock is overvalued or undervalued relative to its earnings. A P/E ratio between 20-25 is generally considered fair for growth stocks.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ROE (Return on Equity) &amp; ROCE (Return on Capital Employed):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These indicators help evaluate a company’s efficiency in generating profits from its resources.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Dividend Yield &amp; Book Value: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High Dividend Yield can signal stable companies but may indicate low growth potential if too high.</a:t>
            </a:r>
          </a:p>
          <a:p>
            <a:pPr algn="l" marL="559389" indent="-279695" lvl="1">
              <a:lnSpc>
                <a:spcPts val="3627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Book Value helps assess intrinsic value to check if the stock is undervalued.</a:t>
            </a:r>
          </a:p>
          <a:p>
            <a:pPr algn="l">
              <a:lnSpc>
                <a:spcPts val="3627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1395692" y="1125360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6946" y="152520"/>
            <a:ext cx="14874108" cy="1405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b="true" sz="4200">
                <a:solidFill>
                  <a:srgbClr val="EBEBEB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ADVANTAGES OF USING SWING TRADING OVER OTHER INVESTMENTS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2014" y="1828531"/>
            <a:ext cx="16198333" cy="7950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High Return Potential: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By capitalizing on short-term price fluctuations, swing traders can achieve significant profits within weeks or months.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Stocks offer higher volatility and potential for returns compared to mutual funds, which often have a conservative approach.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Management: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Swing trading uses a defined risk-reward ratio (1:3) and limits the exposure of the total capital (2%-3% per trade).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helps preserve capital even in case of occasional losses, unlike long-term investing which exposes the portfolio to more prolonged downturns.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Flexibility &amp; Time Commitment: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Swing trading offers more flexibility than day trading. Traders don’t need to monitor the market continuously.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It allows part-time traders to make informed decisions based on technical and fundamental analysis without being glued to the screen.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Diversification: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Swing trading can involve both individual stocks for higher returns and indexes for more stability.</a:t>
            </a:r>
          </a:p>
          <a:p>
            <a:pPr algn="l" marL="510924" indent="-255462" lvl="1">
              <a:lnSpc>
                <a:spcPts val="3313"/>
              </a:lnSpc>
              <a:buFont typeface="Arial"/>
              <a:buChar char="•"/>
            </a:pPr>
            <a:r>
              <a:rPr lang="en-US" sz="2366">
                <a:solidFill>
                  <a:srgbClr val="EBEBE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This approach provides broader market exposure and reduces risk through diversification.</a:t>
            </a:r>
          </a:p>
          <a:p>
            <a:pPr algn="l">
              <a:lnSpc>
                <a:spcPts val="3313"/>
              </a:lnSpc>
            </a:pPr>
          </a:p>
        </p:txBody>
      </p:sp>
      <p:sp>
        <p:nvSpPr>
          <p:cNvPr name="AutoShape 5" id="5"/>
          <p:cNvSpPr/>
          <p:nvPr/>
        </p:nvSpPr>
        <p:spPr>
          <a:xfrm flipV="true">
            <a:off x="4437440" y="9787262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13582" y="8968105"/>
            <a:ext cx="292385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 spc="14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REALLYGREATSITE.COM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2711" y="508267"/>
            <a:ext cx="1084235" cy="1040865"/>
          </a:xfrm>
          <a:custGeom>
            <a:avLst/>
            <a:gdLst/>
            <a:ahLst/>
            <a:cxnLst/>
            <a:rect r="r" b="b" t="t" l="l"/>
            <a:pathLst>
              <a:path h="1040865" w="1084235">
                <a:moveTo>
                  <a:pt x="0" y="0"/>
                </a:moveTo>
                <a:lnTo>
                  <a:pt x="1084235" y="0"/>
                </a:lnTo>
                <a:lnTo>
                  <a:pt x="1084235" y="1040866"/>
                </a:lnTo>
                <a:lnTo>
                  <a:pt x="0" y="10408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85513" y="648889"/>
            <a:ext cx="747575" cy="1014333"/>
          </a:xfrm>
          <a:custGeom>
            <a:avLst/>
            <a:gdLst/>
            <a:ahLst/>
            <a:cxnLst/>
            <a:rect r="r" b="b" t="t" l="l"/>
            <a:pathLst>
              <a:path h="1014333" w="747575">
                <a:moveTo>
                  <a:pt x="0" y="0"/>
                </a:moveTo>
                <a:lnTo>
                  <a:pt x="747574" y="0"/>
                </a:lnTo>
                <a:lnTo>
                  <a:pt x="747574" y="1014333"/>
                </a:lnTo>
                <a:lnTo>
                  <a:pt x="0" y="1014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54381" y="-102870"/>
            <a:ext cx="8033619" cy="7468342"/>
            <a:chOff x="0" y="0"/>
            <a:chExt cx="1244618" cy="1157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4618" cy="1157042"/>
            </a:xfrm>
            <a:custGeom>
              <a:avLst/>
              <a:gdLst/>
              <a:ahLst/>
              <a:cxnLst/>
              <a:rect r="r" b="b" t="t" l="l"/>
              <a:pathLst>
                <a:path h="1157042" w="1244618">
                  <a:moveTo>
                    <a:pt x="0" y="0"/>
                  </a:moveTo>
                  <a:lnTo>
                    <a:pt x="1244618" y="0"/>
                  </a:lnTo>
                  <a:lnTo>
                    <a:pt x="1244618" y="1157042"/>
                  </a:lnTo>
                  <a:lnTo>
                    <a:pt x="0" y="1157042"/>
                  </a:lnTo>
                  <a:close/>
                </a:path>
              </a:pathLst>
            </a:custGeom>
            <a:blipFill>
              <a:blip r:embed="rId2"/>
              <a:stretch>
                <a:fillRect l="-19722" t="0" r="-19722" b="0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4437440" y="10041474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711957" y="6267932"/>
            <a:ext cx="5896483" cy="3387780"/>
            <a:chOff x="0" y="0"/>
            <a:chExt cx="1552983" cy="8922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2983" cy="892255"/>
            </a:xfrm>
            <a:custGeom>
              <a:avLst/>
              <a:gdLst/>
              <a:ahLst/>
              <a:cxnLst/>
              <a:rect r="r" b="b" t="t" l="l"/>
              <a:pathLst>
                <a:path h="892255" w="1552983">
                  <a:moveTo>
                    <a:pt x="26259" y="0"/>
                  </a:moveTo>
                  <a:lnTo>
                    <a:pt x="1526724" y="0"/>
                  </a:lnTo>
                  <a:cubicBezTo>
                    <a:pt x="1541226" y="0"/>
                    <a:pt x="1552983" y="11757"/>
                    <a:pt x="1552983" y="26259"/>
                  </a:cubicBezTo>
                  <a:lnTo>
                    <a:pt x="1552983" y="865995"/>
                  </a:lnTo>
                  <a:cubicBezTo>
                    <a:pt x="1552983" y="880498"/>
                    <a:pt x="1541226" y="892255"/>
                    <a:pt x="1526724" y="892255"/>
                  </a:cubicBezTo>
                  <a:lnTo>
                    <a:pt x="26259" y="892255"/>
                  </a:lnTo>
                  <a:cubicBezTo>
                    <a:pt x="11757" y="892255"/>
                    <a:pt x="0" y="880498"/>
                    <a:pt x="0" y="865995"/>
                  </a:cubicBezTo>
                  <a:lnTo>
                    <a:pt x="0" y="26259"/>
                  </a:lnTo>
                  <a:cubicBezTo>
                    <a:pt x="0" y="11757"/>
                    <a:pt x="11757" y="0"/>
                    <a:pt x="26259" y="0"/>
                  </a:cubicBez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2983" cy="930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2242094" y="7398158"/>
            <a:ext cx="501720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2242094" y="8525486"/>
            <a:ext cx="5017206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62789" y="206693"/>
            <a:ext cx="8867884" cy="157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5"/>
              </a:lnSpc>
            </a:pPr>
            <a:r>
              <a:rPr lang="en-US" sz="4700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TECHNICAL &amp; FUNDAMENTAL ANALYSIS IN SWING TRADING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2597" y="2138917"/>
            <a:ext cx="4249831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CE9743"/>
                </a:solidFill>
                <a:latin typeface="DM Sans Bold"/>
                <a:ea typeface="DM Sans Bold"/>
                <a:cs typeface="DM Sans Bold"/>
                <a:sym typeface="DM Sans Bold"/>
              </a:rPr>
              <a:t>TECHNICAL ANALYSIS: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2094" y="6697188"/>
            <a:ext cx="35113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$. 608.00.896.789.900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53434" y="6697188"/>
            <a:ext cx="15058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b="true" sz="1899">
                <a:solidFill>
                  <a:srgbClr val="00BF63"/>
                </a:solidFill>
                <a:latin typeface="DM Sans Bold"/>
                <a:ea typeface="DM Sans Bold"/>
                <a:cs typeface="DM Sans Bold"/>
                <a:sym typeface="DM Sans Bold"/>
              </a:rPr>
              <a:t>+23487.09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53434" y="7781164"/>
            <a:ext cx="15058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b="true" sz="1899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-13487.09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753434" y="8863624"/>
            <a:ext cx="150586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9"/>
              </a:lnSpc>
            </a:pPr>
            <a:r>
              <a:rPr lang="en-US" b="true" sz="1899">
                <a:solidFill>
                  <a:srgbClr val="FF3131"/>
                </a:solidFill>
                <a:latin typeface="DM Sans Bold"/>
                <a:ea typeface="DM Sans Bold"/>
                <a:cs typeface="DM Sans Bold"/>
                <a:sym typeface="DM Sans Bold"/>
              </a:rPr>
              <a:t>-487.09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42094" y="7736295"/>
            <a:ext cx="35113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$. 708.006.789.859.77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42094" y="8863624"/>
            <a:ext cx="351134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$. 567.345.678.123.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394" y="2209720"/>
            <a:ext cx="4627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2789" y="5944717"/>
            <a:ext cx="462789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FFBD59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935192"/>
            <a:ext cx="45170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CE9743"/>
                </a:solidFill>
                <a:latin typeface="DM Sans Bold"/>
                <a:ea typeface="DM Sans Bold"/>
                <a:cs typeface="DM Sans Bold"/>
                <a:sym typeface="DM Sans Bold"/>
              </a:rPr>
              <a:t>FUNDAMENTAL ANALYSIS: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4183" y="2856272"/>
            <a:ext cx="863649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Relies on tools like EMA, SMA, and SMI to predict future price movements.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Indicators help identify trends, reversals, and overbought/oversold conditions.</a:t>
            </a:r>
          </a:p>
          <a:p>
            <a:pPr algn="l" marL="539746" indent="-269873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Heikin-Ashi Candles provide clearer trend signals by reducing market noise.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335" y="6503976"/>
            <a:ext cx="9568185" cy="305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2737" indent="-357579" lvl="2">
              <a:lnSpc>
                <a:spcPts val="3478"/>
              </a:lnSpc>
              <a:buFont typeface="Arial"/>
              <a:buChar char="⚬"/>
            </a:pPr>
            <a:r>
              <a:rPr lang="en-US" b="true" sz="248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Helps assess the intrinsic value of stocks using market cap, P/E ratio, and profitability metrics (ROE, ROCE).</a:t>
            </a:r>
          </a:p>
          <a:p>
            <a:pPr algn="l" marL="1072737" indent="-357579" lvl="2">
              <a:lnSpc>
                <a:spcPts val="3478"/>
              </a:lnSpc>
              <a:buFont typeface="Arial"/>
              <a:buChar char="⚬"/>
            </a:pPr>
            <a:r>
              <a:rPr lang="en-US" b="true" sz="248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Selecting stocks with solid financials helps ensure long-term growth potential.</a:t>
            </a:r>
          </a:p>
          <a:p>
            <a:pPr algn="l" marL="1072737" indent="-357579" lvl="2">
              <a:lnSpc>
                <a:spcPts val="3478"/>
              </a:lnSpc>
              <a:buFont typeface="Arial"/>
              <a:buChar char="⚬"/>
            </a:pPr>
            <a:r>
              <a:rPr lang="en-US" b="true" sz="2484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metrics like dividend yield and book value are used to confirm the stock's underlying financial health.</a:t>
            </a:r>
          </a:p>
          <a:p>
            <a:pPr algn="l">
              <a:lnSpc>
                <a:spcPts val="347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30270" y="2769453"/>
            <a:ext cx="4996790" cy="4325898"/>
            <a:chOff x="0" y="0"/>
            <a:chExt cx="1316027" cy="11393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6027" cy="1139331"/>
            </a:xfrm>
            <a:custGeom>
              <a:avLst/>
              <a:gdLst/>
              <a:ahLst/>
              <a:cxnLst/>
              <a:rect r="r" b="b" t="t" l="l"/>
              <a:pathLst>
                <a:path h="1139331" w="1316027">
                  <a:moveTo>
                    <a:pt x="30988" y="0"/>
                  </a:moveTo>
                  <a:lnTo>
                    <a:pt x="1285039" y="0"/>
                  </a:lnTo>
                  <a:cubicBezTo>
                    <a:pt x="1293258" y="0"/>
                    <a:pt x="1301140" y="3265"/>
                    <a:pt x="1306951" y="9076"/>
                  </a:cubicBezTo>
                  <a:cubicBezTo>
                    <a:pt x="1312762" y="14887"/>
                    <a:pt x="1316027" y="22769"/>
                    <a:pt x="1316027" y="30988"/>
                  </a:cubicBezTo>
                  <a:lnTo>
                    <a:pt x="1316027" y="1108344"/>
                  </a:lnTo>
                  <a:cubicBezTo>
                    <a:pt x="1316027" y="1125458"/>
                    <a:pt x="1302153" y="1139331"/>
                    <a:pt x="1285039" y="1139331"/>
                  </a:cubicBezTo>
                  <a:lnTo>
                    <a:pt x="30988" y="1139331"/>
                  </a:lnTo>
                  <a:cubicBezTo>
                    <a:pt x="13874" y="1139331"/>
                    <a:pt x="0" y="1125458"/>
                    <a:pt x="0" y="1108344"/>
                  </a:cubicBezTo>
                  <a:lnTo>
                    <a:pt x="0" y="30988"/>
                  </a:lnTo>
                  <a:cubicBezTo>
                    <a:pt x="0" y="13874"/>
                    <a:pt x="13874" y="0"/>
                    <a:pt x="30988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16027" cy="117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598165" y="2769453"/>
            <a:ext cx="5028186" cy="4340186"/>
            <a:chOff x="0" y="0"/>
            <a:chExt cx="1324296" cy="11430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24296" cy="1143094"/>
            </a:xfrm>
            <a:custGeom>
              <a:avLst/>
              <a:gdLst/>
              <a:ahLst/>
              <a:cxnLst/>
              <a:rect r="r" b="b" t="t" l="l"/>
              <a:pathLst>
                <a:path h="1143094" w="1324296">
                  <a:moveTo>
                    <a:pt x="30794" y="0"/>
                  </a:moveTo>
                  <a:lnTo>
                    <a:pt x="1293502" y="0"/>
                  </a:lnTo>
                  <a:cubicBezTo>
                    <a:pt x="1310509" y="0"/>
                    <a:pt x="1324296" y="13787"/>
                    <a:pt x="1324296" y="30794"/>
                  </a:cubicBezTo>
                  <a:lnTo>
                    <a:pt x="1324296" y="1112300"/>
                  </a:lnTo>
                  <a:cubicBezTo>
                    <a:pt x="1324296" y="1120467"/>
                    <a:pt x="1321052" y="1128300"/>
                    <a:pt x="1315276" y="1134075"/>
                  </a:cubicBezTo>
                  <a:cubicBezTo>
                    <a:pt x="1309502" y="1139850"/>
                    <a:pt x="1301669" y="1143094"/>
                    <a:pt x="1293502" y="1143094"/>
                  </a:cubicBezTo>
                  <a:lnTo>
                    <a:pt x="30794" y="1143094"/>
                  </a:lnTo>
                  <a:cubicBezTo>
                    <a:pt x="22627" y="1143094"/>
                    <a:pt x="14794" y="1139850"/>
                    <a:pt x="9019" y="1134075"/>
                  </a:cubicBezTo>
                  <a:cubicBezTo>
                    <a:pt x="3244" y="1128300"/>
                    <a:pt x="0" y="1120467"/>
                    <a:pt x="0" y="1112300"/>
                  </a:cubicBezTo>
                  <a:lnTo>
                    <a:pt x="0" y="30794"/>
                  </a:lnTo>
                  <a:cubicBezTo>
                    <a:pt x="0" y="22627"/>
                    <a:pt x="3244" y="14794"/>
                    <a:pt x="9019" y="9019"/>
                  </a:cubicBezTo>
                  <a:cubicBezTo>
                    <a:pt x="14794" y="3244"/>
                    <a:pt x="22627" y="0"/>
                    <a:pt x="30794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24296" cy="1181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97457" y="2769453"/>
            <a:ext cx="5055271" cy="4340186"/>
            <a:chOff x="0" y="0"/>
            <a:chExt cx="1331429" cy="11430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1429" cy="1143094"/>
            </a:xfrm>
            <a:custGeom>
              <a:avLst/>
              <a:gdLst/>
              <a:ahLst/>
              <a:cxnLst/>
              <a:rect r="r" b="b" t="t" l="l"/>
              <a:pathLst>
                <a:path h="1143094" w="1331429">
                  <a:moveTo>
                    <a:pt x="30629" y="0"/>
                  </a:moveTo>
                  <a:lnTo>
                    <a:pt x="1300800" y="0"/>
                  </a:lnTo>
                  <a:cubicBezTo>
                    <a:pt x="1308924" y="0"/>
                    <a:pt x="1316714" y="3227"/>
                    <a:pt x="1322458" y="8971"/>
                  </a:cubicBezTo>
                  <a:cubicBezTo>
                    <a:pt x="1328202" y="14715"/>
                    <a:pt x="1331429" y="22506"/>
                    <a:pt x="1331429" y="30629"/>
                  </a:cubicBezTo>
                  <a:lnTo>
                    <a:pt x="1331429" y="1112465"/>
                  </a:lnTo>
                  <a:cubicBezTo>
                    <a:pt x="1331429" y="1129381"/>
                    <a:pt x="1317716" y="1143094"/>
                    <a:pt x="1300800" y="1143094"/>
                  </a:cubicBezTo>
                  <a:lnTo>
                    <a:pt x="30629" y="1143094"/>
                  </a:lnTo>
                  <a:cubicBezTo>
                    <a:pt x="22506" y="1143094"/>
                    <a:pt x="14715" y="1139867"/>
                    <a:pt x="8971" y="1134123"/>
                  </a:cubicBezTo>
                  <a:cubicBezTo>
                    <a:pt x="3227" y="1128379"/>
                    <a:pt x="0" y="1120588"/>
                    <a:pt x="0" y="1112465"/>
                  </a:cubicBezTo>
                  <a:lnTo>
                    <a:pt x="0" y="30629"/>
                  </a:lnTo>
                  <a:cubicBezTo>
                    <a:pt x="0" y="13713"/>
                    <a:pt x="13713" y="0"/>
                    <a:pt x="30629" y="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1429" cy="1181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504229" y="3455988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8319564" y="3484563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100656" y="3470276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0" y="1129804"/>
            <a:ext cx="18734027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600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RISK MANAGEMENT IN SWING TRADING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8673" y="3059430"/>
            <a:ext cx="32399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147">
                <a:solidFill>
                  <a:srgbClr val="13191D"/>
                </a:solidFill>
                <a:latin typeface="DM Sans Bold"/>
                <a:ea typeface="DM Sans Bold"/>
                <a:cs typeface="DM Sans Bold"/>
                <a:sym typeface="DM Sans Bold"/>
              </a:rPr>
              <a:t>RISK PER TRADE: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92267" y="3059430"/>
            <a:ext cx="32399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147">
                <a:solidFill>
                  <a:srgbClr val="13191D"/>
                </a:solidFill>
                <a:latin typeface="DM Sans Bold"/>
                <a:ea typeface="DM Sans Bold"/>
                <a:cs typeface="DM Sans Bold"/>
                <a:sym typeface="DM Sans Bold"/>
              </a:rPr>
              <a:t>RISK-REWARD RATIO: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05100" y="3059430"/>
            <a:ext cx="3239984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 spc="147">
                <a:solidFill>
                  <a:srgbClr val="13191D"/>
                </a:solidFill>
                <a:latin typeface="DM Sans Bold"/>
                <a:ea typeface="DM Sans Bold"/>
                <a:cs typeface="DM Sans Bold"/>
                <a:sym typeface="DM Sans Bold"/>
              </a:rPr>
              <a:t>LIMITING EXPOSURE: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30270" y="4008479"/>
            <a:ext cx="4962617" cy="2891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spc="21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EACH TRADE SHOULD RISK ONLY 2%-3% OF THE TOTAL PORTFOLIO. THIS HELPS IN MANAGING OVERALL RISK WHILE STILL CAPITALIZING ON PROFITABLE OPPORTUNITIES.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04061" y="3813068"/>
            <a:ext cx="4816394" cy="308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  <a:spcBef>
                <a:spcPct val="0"/>
              </a:spcBef>
            </a:pPr>
            <a:r>
              <a:rPr lang="en-US" sz="2241" spc="2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MAINTAIN A 1:3 RATIO: FOR EVERY ₹1 RISKED, AIM FOR ₹3 IN PROFIT.</a:t>
            </a:r>
          </a:p>
          <a:p>
            <a:pPr algn="ctr">
              <a:lnSpc>
                <a:spcPts val="3138"/>
              </a:lnSpc>
              <a:spcBef>
                <a:spcPct val="0"/>
              </a:spcBef>
            </a:pPr>
            <a:r>
              <a:rPr lang="en-US" sz="2241" spc="2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THIS ENSURES THAT A SMALL NUMBER OF SUCCESSFUL TRADES CAN MORE THAN OFFSET LOSSES FROM UNSUCCESSFUL TRADES.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90884" y="4216827"/>
            <a:ext cx="4668416" cy="248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9"/>
              </a:lnSpc>
              <a:spcBef>
                <a:spcPct val="0"/>
              </a:spcBef>
            </a:pPr>
            <a:r>
              <a:rPr lang="en-US" sz="2421" spc="21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BY KEEPING RISK PER TRADE LOW AND DIVERSIFYING ACROSS STOCKS AND INDEXES, THE IMPACT OF A LOSS IS MINIMIZED.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04264" y="594678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437440" y="9874635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853136" y="3613416"/>
            <a:ext cx="15151632" cy="5780024"/>
            <a:chOff x="0" y="0"/>
            <a:chExt cx="3990553" cy="15223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990553" cy="1522311"/>
            </a:xfrm>
            <a:custGeom>
              <a:avLst/>
              <a:gdLst/>
              <a:ahLst/>
              <a:cxnLst/>
              <a:rect r="r" b="b" t="t" l="l"/>
              <a:pathLst>
                <a:path h="1522311" w="3990553">
                  <a:moveTo>
                    <a:pt x="10219" y="0"/>
                  </a:moveTo>
                  <a:lnTo>
                    <a:pt x="3980334" y="0"/>
                  </a:lnTo>
                  <a:cubicBezTo>
                    <a:pt x="3983044" y="0"/>
                    <a:pt x="3985644" y="1077"/>
                    <a:pt x="3987560" y="2993"/>
                  </a:cubicBezTo>
                  <a:cubicBezTo>
                    <a:pt x="3989477" y="4910"/>
                    <a:pt x="3990553" y="7509"/>
                    <a:pt x="3990553" y="10219"/>
                  </a:cubicBezTo>
                  <a:lnTo>
                    <a:pt x="3990553" y="1512092"/>
                  </a:lnTo>
                  <a:cubicBezTo>
                    <a:pt x="3990553" y="1517736"/>
                    <a:pt x="3985978" y="1522311"/>
                    <a:pt x="3980334" y="1522311"/>
                  </a:cubicBezTo>
                  <a:lnTo>
                    <a:pt x="10219" y="1522311"/>
                  </a:lnTo>
                  <a:cubicBezTo>
                    <a:pt x="4575" y="1522311"/>
                    <a:pt x="0" y="1517736"/>
                    <a:pt x="0" y="1512092"/>
                  </a:cubicBezTo>
                  <a:lnTo>
                    <a:pt x="0" y="10219"/>
                  </a:lnTo>
                  <a:cubicBezTo>
                    <a:pt x="0" y="4575"/>
                    <a:pt x="4575" y="0"/>
                    <a:pt x="1021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990553" cy="1560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61556" y="485140"/>
            <a:ext cx="14643212" cy="203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60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PYTHON &amp; MACHINE LEARNING ENHANCE SWING TRADING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49401" y="3967947"/>
            <a:ext cx="3084123" cy="43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585" b="true">
                <a:solidFill>
                  <a:srgbClr val="13191D"/>
                </a:solidFill>
                <a:latin typeface="TT Hoves Bold"/>
                <a:ea typeface="TT Hoves Bold"/>
                <a:cs typeface="TT Hoves Bold"/>
                <a:sym typeface="TT Hoves Bold"/>
              </a:rPr>
              <a:t>AUTOMATION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7106" y="3967947"/>
            <a:ext cx="4723828" cy="432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585" b="true">
                <a:solidFill>
                  <a:srgbClr val="13191D"/>
                </a:solidFill>
                <a:latin typeface="TT Hoves Bold"/>
                <a:ea typeface="TT Hoves Bold"/>
                <a:cs typeface="TT Hoves Bold"/>
                <a:sym typeface="TT Hoves Bold"/>
              </a:rPr>
              <a:t>MACHINE LEARNING: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2187" y="299721"/>
            <a:ext cx="254279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2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CRYPTO COIN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51213" y="4885789"/>
            <a:ext cx="7077739" cy="421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570" indent="-328785" lvl="1">
              <a:lnSpc>
                <a:spcPts val="4264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Using Python, technical and fundamental data can be analyzed automatically, reducing manual effort.</a:t>
            </a:r>
          </a:p>
          <a:p>
            <a:pPr algn="l" marL="657570" indent="-328785" lvl="1">
              <a:lnSpc>
                <a:spcPts val="4264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can automate trade signals, such as buying when specific conditions are met (e.g., EMA crossover, SMI overbought signal).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8952" y="4896039"/>
            <a:ext cx="7300136" cy="4780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452" indent="-327226" lvl="1">
              <a:lnSpc>
                <a:spcPts val="4243"/>
              </a:lnSpc>
              <a:buFont typeface="Arial"/>
              <a:buChar char="•"/>
            </a:pPr>
            <a:r>
              <a:rPr lang="en-US" sz="30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 can incorporate machine learning algorithms to predict market movements based on historical patterns.</a:t>
            </a:r>
          </a:p>
          <a:p>
            <a:pPr algn="l" marL="654452" indent="-327226" lvl="1">
              <a:lnSpc>
                <a:spcPts val="4243"/>
              </a:lnSpc>
              <a:buFont typeface="Arial"/>
              <a:buChar char="•"/>
            </a:pPr>
            <a:r>
              <a:rPr lang="en-US" sz="303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Data-driven decisions: Machine learning helps improve predictions, identify profitable patterns, and optimize strategies.</a:t>
            </a:r>
          </a:p>
          <a:p>
            <a:pPr algn="l">
              <a:lnSpc>
                <a:spcPts val="424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0435" y="2246789"/>
            <a:ext cx="8733565" cy="6442328"/>
            <a:chOff x="0" y="0"/>
            <a:chExt cx="2300198" cy="16967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00198" cy="1696745"/>
            </a:xfrm>
            <a:custGeom>
              <a:avLst/>
              <a:gdLst/>
              <a:ahLst/>
              <a:cxnLst/>
              <a:rect r="r" b="b" t="t" l="l"/>
              <a:pathLst>
                <a:path h="1696745" w="2300198">
                  <a:moveTo>
                    <a:pt x="0" y="0"/>
                  </a:moveTo>
                  <a:lnTo>
                    <a:pt x="2300198" y="0"/>
                  </a:lnTo>
                  <a:lnTo>
                    <a:pt x="2300198" y="1696745"/>
                  </a:lnTo>
                  <a:lnTo>
                    <a:pt x="0" y="1696745"/>
                  </a:ln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00198" cy="1725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4437440" y="9138285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96257" y="2615835"/>
          <a:ext cx="8398679" cy="5704235"/>
        </p:xfrm>
        <a:graphic>
          <a:graphicData uri="http://schemas.openxmlformats.org/drawingml/2006/table">
            <a:tbl>
              <a:tblPr/>
              <a:tblGrid>
                <a:gridCol w="1638292"/>
                <a:gridCol w="1415151"/>
                <a:gridCol w="1554614"/>
                <a:gridCol w="1526721"/>
                <a:gridCol w="2263901"/>
              </a:tblGrid>
              <a:tr h="1126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Method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Return Potential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Flexibility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 Commitment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Swing Trading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 to Moderate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9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Day Trading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High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6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Long-Term Investing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Very 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41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Mutual Funds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 to 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 lang="en-US" sz="1100"/>
                    </a:p>
                  </a:txBody>
                  <a:tcPr marL="152400" marR="152400" marT="152400" marB="152400" anchor="ctr">
                    <a:lnL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72298" y="194972"/>
            <a:ext cx="16987002" cy="179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5"/>
              </a:lnSpc>
            </a:pPr>
            <a:r>
              <a:rPr lang="en-US" b="true" sz="5300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COMPARISON: SWING TRADING VS. OTHER INVESTMENT STRATEGIES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3582" y="6595110"/>
            <a:ext cx="278095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VISION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4936" y="2180444"/>
            <a:ext cx="8618494" cy="732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3340" indent="-376670" lvl="1">
              <a:lnSpc>
                <a:spcPts val="4885"/>
              </a:lnSpc>
              <a:buFont typeface="Arial"/>
              <a:buChar char="•"/>
            </a:pPr>
            <a:r>
              <a:rPr lang="en-US" b="true" sz="348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SWING TRADING OFFERS A BALANCED APPROACH WITH FLEXIBILITY AND HIGH RETURN POTENTIAL.</a:t>
            </a:r>
          </a:p>
          <a:p>
            <a:pPr algn="l" marL="753340" indent="-376670" lvl="1">
              <a:lnSpc>
                <a:spcPts val="4885"/>
              </a:lnSpc>
              <a:buFont typeface="Arial"/>
              <a:buChar char="•"/>
            </a:pPr>
            <a:r>
              <a:rPr lang="en-US" b="true" sz="348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COMPARED TO DAY TRADING, IT’S LESS STRESSFUL AND OFFERS MORE TIME FOR ANALYSIS.</a:t>
            </a:r>
          </a:p>
          <a:p>
            <a:pPr algn="l" marL="753340" indent="-376670" lvl="1">
              <a:lnSpc>
                <a:spcPts val="4885"/>
              </a:lnSpc>
              <a:buFont typeface="Arial"/>
              <a:buChar char="•"/>
            </a:pPr>
            <a:r>
              <a:rPr lang="en-US" b="true" sz="348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UNLIKE LONG-TERM INVESTING, IT PROVIDES HIGHER RETURNS OVER A SHORT PERIOD WITH CONTROLLED RISKS.</a:t>
            </a:r>
          </a:p>
          <a:p>
            <a:pPr algn="l">
              <a:lnSpc>
                <a:spcPts val="4885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24178" y="25581"/>
            <a:ext cx="11463822" cy="4891466"/>
            <a:chOff x="0" y="0"/>
            <a:chExt cx="3019278" cy="1288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9278" cy="1288287"/>
            </a:xfrm>
            <a:custGeom>
              <a:avLst/>
              <a:gdLst/>
              <a:ahLst/>
              <a:cxnLst/>
              <a:rect r="r" b="b" t="t" l="l"/>
              <a:pathLst>
                <a:path h="1288287" w="3019278">
                  <a:moveTo>
                    <a:pt x="0" y="0"/>
                  </a:moveTo>
                  <a:lnTo>
                    <a:pt x="3019278" y="0"/>
                  </a:lnTo>
                  <a:lnTo>
                    <a:pt x="3019278" y="1288287"/>
                  </a:lnTo>
                  <a:lnTo>
                    <a:pt x="0" y="1288287"/>
                  </a:lnTo>
                  <a:close/>
                </a:path>
              </a:pathLst>
            </a:custGeom>
            <a:solidFill>
              <a:srgbClr val="13191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019278" cy="1316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689647" y="10038246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7337199" cy="4891466"/>
          </a:xfrm>
          <a:custGeom>
            <a:avLst/>
            <a:gdLst/>
            <a:ahLst/>
            <a:cxnLst/>
            <a:rect r="r" b="b" t="t" l="l"/>
            <a:pathLst>
              <a:path h="4891466" w="7337199">
                <a:moveTo>
                  <a:pt x="0" y="0"/>
                </a:moveTo>
                <a:lnTo>
                  <a:pt x="7337199" y="0"/>
                </a:lnTo>
                <a:lnTo>
                  <a:pt x="7337199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2358" y="6108597"/>
            <a:ext cx="8082896" cy="343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449" indent="-306725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Simulate trades on historical data to check how well the strategy would have performed.</a:t>
            </a:r>
          </a:p>
          <a:p>
            <a:pPr algn="l" marL="613449" indent="-306725" lvl="1">
              <a:lnSpc>
                <a:spcPts val="3977"/>
              </a:lnSpc>
              <a:buFont typeface="Arial"/>
              <a:buChar char="•"/>
            </a:pPr>
            <a:r>
              <a:rPr lang="en-US" sz="284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Metrics to track: ROI (Return on Investment), Sharpe Ratio (risk-adjusted return), win rate, and profit/loss consistency.</a:t>
            </a:r>
          </a:p>
          <a:p>
            <a:pPr algn="l">
              <a:lnSpc>
                <a:spcPts val="397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6089547"/>
            <a:ext cx="7709534" cy="332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2211" indent="-346106" lvl="1">
              <a:lnSpc>
                <a:spcPts val="4488"/>
              </a:lnSpc>
              <a:buFont typeface="Arial"/>
              <a:buChar char="•"/>
            </a:pPr>
            <a:r>
              <a:rPr lang="en-US" sz="320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 paper trading to validate the strategy before committing real capital.</a:t>
            </a:r>
          </a:p>
          <a:p>
            <a:pPr algn="l" marL="692211" indent="-346106" lvl="1">
              <a:lnSpc>
                <a:spcPts val="4488"/>
              </a:lnSpc>
              <a:buFont typeface="Arial"/>
              <a:buChar char="•"/>
            </a:pPr>
            <a:r>
              <a:rPr lang="en-US" sz="320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Refine execution based on performance in the real market.</a:t>
            </a:r>
          </a:p>
          <a:p>
            <a:pPr algn="l">
              <a:lnSpc>
                <a:spcPts val="448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058062" y="359355"/>
            <a:ext cx="6586051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6000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BACKTESTING &amp; STRATEGY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3729" y="5324333"/>
            <a:ext cx="2780958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BACKTESTING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01223" y="5342113"/>
            <a:ext cx="2780958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VALIDATION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7256" y="8229600"/>
            <a:ext cx="6067399" cy="4114800"/>
          </a:xfrm>
          <a:custGeom>
            <a:avLst/>
            <a:gdLst/>
            <a:ahLst/>
            <a:cxnLst/>
            <a:rect r="r" b="b" t="t" l="l"/>
            <a:pathLst>
              <a:path h="4114800" w="6067399">
                <a:moveTo>
                  <a:pt x="0" y="0"/>
                </a:moveTo>
                <a:lnTo>
                  <a:pt x="6067400" y="0"/>
                </a:lnTo>
                <a:lnTo>
                  <a:pt x="606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43052" y="5417181"/>
            <a:ext cx="7128037" cy="5883870"/>
          </a:xfrm>
          <a:custGeom>
            <a:avLst/>
            <a:gdLst/>
            <a:ahLst/>
            <a:cxnLst/>
            <a:rect r="r" b="b" t="t" l="l"/>
            <a:pathLst>
              <a:path h="5883870" w="7128037">
                <a:moveTo>
                  <a:pt x="0" y="0"/>
                </a:moveTo>
                <a:lnTo>
                  <a:pt x="7128037" y="0"/>
                </a:lnTo>
                <a:lnTo>
                  <a:pt x="7128037" y="5883870"/>
                </a:lnTo>
                <a:lnTo>
                  <a:pt x="0" y="5883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96083">
            <a:off x="15020556" y="1137741"/>
            <a:ext cx="6073623" cy="6095789"/>
          </a:xfrm>
          <a:custGeom>
            <a:avLst/>
            <a:gdLst/>
            <a:ahLst/>
            <a:cxnLst/>
            <a:rect r="r" b="b" t="t" l="l"/>
            <a:pathLst>
              <a:path h="6095789" w="6073623">
                <a:moveTo>
                  <a:pt x="6073623" y="0"/>
                </a:moveTo>
                <a:lnTo>
                  <a:pt x="0" y="0"/>
                </a:lnTo>
                <a:lnTo>
                  <a:pt x="0" y="6095790"/>
                </a:lnTo>
                <a:lnTo>
                  <a:pt x="6073623" y="6095790"/>
                </a:lnTo>
                <a:lnTo>
                  <a:pt x="607362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0979" y="653171"/>
            <a:ext cx="8930405" cy="167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99"/>
              </a:lnSpc>
              <a:spcBef>
                <a:spcPct val="0"/>
              </a:spcBef>
            </a:pPr>
            <a:r>
              <a:rPr lang="en-US" b="true" sz="13052" spc="-848">
                <a:solidFill>
                  <a:srgbClr val="F1EEEA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267742"/>
            <a:ext cx="13386493" cy="596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0095" indent="-335048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Swing Trading is a balanced, profitable strategy that combines technical and fundamental analysis for making informed decisions.</a:t>
            </a:r>
          </a:p>
          <a:p>
            <a:pPr algn="l" marL="670095" indent="-335048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Key Advantages:</a:t>
            </a:r>
          </a:p>
          <a:p>
            <a:pPr algn="l" marL="670095" indent="-335048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Higher returns, lower risk, and more flexibility compared to other methods.</a:t>
            </a:r>
          </a:p>
          <a:p>
            <a:pPr algn="l" marL="670095" indent="-335048" lvl="1">
              <a:lnSpc>
                <a:spcPts val="4345"/>
              </a:lnSpc>
              <a:buFont typeface="Arial"/>
              <a:buChar char="•"/>
            </a:pPr>
            <a:r>
              <a:rPr lang="en-US" sz="3103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Python and machine learning enhance decision-making and increase trading efficiency.</a:t>
            </a:r>
          </a:p>
          <a:p>
            <a:pPr algn="l" marL="670095" indent="-335048" lvl="1">
              <a:lnSpc>
                <a:spcPts val="4345"/>
              </a:lnSpc>
              <a:spcBef>
                <a:spcPct val="0"/>
              </a:spcBef>
              <a:buFont typeface="Arial"/>
              <a:buChar char="•"/>
            </a:pPr>
            <a:r>
              <a:rPr lang="en-US" sz="3103">
                <a:solidFill>
                  <a:srgbClr val="F1EEEA"/>
                </a:solidFill>
                <a:latin typeface="Inter"/>
                <a:ea typeface="Inter"/>
                <a:cs typeface="Inter"/>
                <a:sym typeface="Inter"/>
              </a:rPr>
              <a:t>Recommendation: Swing trading is suitable for traders who want to engage in active trading without the need for constant market monitoring.</a:t>
            </a:r>
          </a:p>
          <a:p>
            <a:pPr algn="l">
              <a:lnSpc>
                <a:spcPts val="43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513582" y="1613853"/>
            <a:ext cx="1648872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751580" y="4255754"/>
            <a:ext cx="4335871" cy="142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542" b="tru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16556" y="4255754"/>
            <a:ext cx="5454944" cy="142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8542" b="true">
                <a:solidFill>
                  <a:srgbClr val="FFBD59"/>
                </a:solidFill>
                <a:latin typeface="TT Hoves Bold"/>
                <a:ea typeface="TT Hoves Bold"/>
                <a:cs typeface="TT Hoves Bold"/>
                <a:sym typeface="TT Hoves Bold"/>
              </a:rPr>
              <a:t>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3582" y="1176483"/>
            <a:ext cx="2542790" cy="28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spc="20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CRYPTO COIN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4437440" y="9138285"/>
            <a:ext cx="13850560" cy="0"/>
          </a:xfrm>
          <a:prstGeom prst="line">
            <a:avLst/>
          </a:prstGeom>
          <a:ln cap="flat" w="28575">
            <a:solidFill>
              <a:srgbClr val="FFBD5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DAGaaCm9cPQ</dc:identifier>
  <dcterms:modified xsi:type="dcterms:W3CDTF">2011-08-01T06:04:30Z</dcterms:modified>
  <cp:revision>1</cp:revision>
  <dc:title>Momentum of Swings in Insights</dc:title>
</cp:coreProperties>
</file>